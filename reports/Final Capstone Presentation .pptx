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2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74007" autoAdjust="0"/>
  </p:normalViewPr>
  <p:slideViewPr>
    <p:cSldViewPr snapToGrid="0">
      <p:cViewPr varScale="1">
        <p:scale>
          <a:sx n="77" d="100"/>
          <a:sy n="77" d="100"/>
        </p:scale>
        <p:origin x="6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48310-4D9E-400E-881E-4810D1DA4541}" type="datetimeFigureOut"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9A00F-FE5B-4AF2-82B1-3AD1914458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3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60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98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42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5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10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48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5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>
                <a:cs typeface="+mn-lt"/>
              </a:rPr>
            </a:b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64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25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03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54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38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04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64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26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55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77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24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9A00F-FE5B-4AF2-82B1-3AD191445885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09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5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3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9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9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5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6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1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9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82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0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33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69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25" r:id="rId6"/>
    <p:sldLayoutId id="2147483721" r:id="rId7"/>
    <p:sldLayoutId id="2147483722" r:id="rId8"/>
    <p:sldLayoutId id="2147483723" r:id="rId9"/>
    <p:sldLayoutId id="2147483724" r:id="rId10"/>
    <p:sldLayoutId id="214748372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sketball on the hardwood of an indoor court">
            <a:extLst>
              <a:ext uri="{FF2B5EF4-FFF2-40B4-BE49-F238E27FC236}">
                <a16:creationId xmlns:a16="http://schemas.microsoft.com/office/drawing/2014/main" id="{64A1A130-3445-AEC4-7F45-04E71D7B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NBA Win Prediction:</a:t>
            </a:r>
            <a:endParaRPr lang="en-US" sz="4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Sports Capstone</a:t>
            </a:r>
            <a:endParaRPr lang="en-US" sz="4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br>
              <a:rPr lang="en-US" sz="4600">
                <a:solidFill>
                  <a:srgbClr val="FFFFFF"/>
                </a:solidFill>
              </a:rPr>
            </a:br>
            <a:endParaRPr lang="en-US" sz="46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0970" y="5253051"/>
            <a:ext cx="4892948" cy="812923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Grant Robinson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374F-242C-0F02-9461-3199E9B9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7B4C-ABDB-6704-773C-4BEE014C7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83530"/>
            <a:ext cx="10890928" cy="40161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Problem Statement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Dataset Overview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EDA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Preprocessing/Feature Engineering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Methodology - Experiment Setup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Hyperparameter Tuning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Methodology - Evaluation Criteria 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Model comparison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Statistical Analysis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Error Analysis/Interpretation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Results</a:t>
            </a:r>
            <a:endParaRPr lang="en-US" sz="1200"/>
          </a:p>
          <a:p>
            <a:r>
              <a:rPr lang="en-US" sz="1200">
                <a:solidFill>
                  <a:srgbClr val="595959"/>
                </a:solidFill>
                <a:latin typeface="Arial"/>
                <a:cs typeface="Arial"/>
              </a:rPr>
              <a:t>Potential for Future Work</a:t>
            </a:r>
            <a:endParaRPr lang="en-US" sz="12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1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C5DE-07B9-4B51-56BD-83261EB3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B354-8007-9470-DC06-7B55F44B7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rial"/>
                <a:cs typeface="Arial"/>
              </a:rPr>
              <a:t>Predicting NBA game outcomes is challenging because team performance fluctuates throughout the season. Teams are often evaluated based on their season record or reputation instead of their recent performance trends.</a:t>
            </a:r>
            <a:endParaRPr lang="en-US" dirty="0"/>
          </a:p>
          <a:p>
            <a:pPr>
              <a:buFont typeface="Courier New" panose="020B0604020202020204" pitchFamily="34" charset="0"/>
              <a:buChar char="o"/>
            </a:pPr>
            <a:r>
              <a:rPr lang="en-US" sz="1600" dirty="0">
                <a:latin typeface="Arial"/>
                <a:cs typeface="Arial"/>
              </a:rPr>
              <a:t>Research Questions: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US" sz="1600" dirty="0">
                <a:ea typeface="+mn-lt"/>
                <a:cs typeface="+mn-lt"/>
              </a:rPr>
              <a:t>Can recent team performance trends accurately predict the outcome of an NBA game?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US" sz="1600" dirty="0">
                <a:latin typeface="Grandview Display"/>
                <a:cs typeface="Arial"/>
              </a:rPr>
              <a:t>Which Performance Metrics are most associated with winning NBA Games?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US" sz="1600" dirty="0">
                <a:latin typeface="Arial"/>
                <a:cs typeface="Arial"/>
              </a:rPr>
              <a:t>Hypothesis</a:t>
            </a:r>
            <a:r>
              <a:rPr lang="en-US" sz="1600" dirty="0">
                <a:latin typeface="Grandview Display"/>
                <a:cs typeface="Arial"/>
              </a:rPr>
              <a:t>: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US" sz="1600" dirty="0">
                <a:ea typeface="+mn-lt"/>
                <a:cs typeface="+mn-lt"/>
              </a:rPr>
              <a:t>Random Forest and </a:t>
            </a:r>
            <a:r>
              <a:rPr lang="en-US" sz="1600" dirty="0" err="1">
                <a:ea typeface="+mn-lt"/>
                <a:cs typeface="+mn-lt"/>
              </a:rPr>
              <a:t>XGBoost</a:t>
            </a:r>
            <a:r>
              <a:rPr lang="en-US" sz="1600" dirty="0">
                <a:ea typeface="+mn-lt"/>
                <a:cs typeface="+mn-lt"/>
              </a:rPr>
              <a:t>, trained on the same leakage-safe rolling team statistics, will predict game outcomes more accurately than Logistic Regression</a:t>
            </a:r>
            <a:endParaRPr lang="en-US" sz="1600" dirty="0">
              <a:latin typeface="Grandview Display"/>
              <a:cs typeface="Arial"/>
            </a:endParaRPr>
          </a:p>
          <a:p>
            <a:pPr>
              <a:buFont typeface="Courier New" panose="020B0604020202020204" pitchFamily="34" charset="0"/>
              <a:buChar char="o"/>
            </a:pPr>
            <a:endParaRPr lang="en-US" sz="1600" dirty="0">
              <a:latin typeface="Grandview Display"/>
              <a:cs typeface="Arial"/>
            </a:endParaRPr>
          </a:p>
          <a:p>
            <a:pPr>
              <a:buFont typeface="Courier New" panose="020B0604020202020204" pitchFamily="34" charset="0"/>
              <a:buChar char="o"/>
            </a:pPr>
            <a:endParaRPr lang="en-US" sz="1600" dirty="0">
              <a:solidFill>
                <a:srgbClr val="595959"/>
              </a:solidFill>
              <a:latin typeface="Grandview Display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107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5C61-DEF6-2261-721D-09153918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FD75-0410-2984-05AB-1B799A521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Source: Kaggle, NBA traditional box scores dataset (1997–2025)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Compiled from official NBA game logs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Filtered to the 2025 regular season only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1,230 games (2,460 team-game rows, one row per team per game)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29 raw features per row (points, shooting %, rebounds, assists, turnovers, steals, blocks, etc.)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Target: win/loss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626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47F86-A8DE-0E2F-ED47-FB3A5797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600"/>
              <a:t>EDA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1CBFEA-32B3-9E01-D1A2-988AE8CD1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86359" y="652036"/>
            <a:ext cx="5411676" cy="5434728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4C80B1-4A8D-EB5A-393A-8307EC4F8D6D}"/>
              </a:ext>
            </a:extLst>
          </p:cNvPr>
          <p:cNvSpPr txBox="1"/>
          <p:nvPr/>
        </p:nvSpPr>
        <p:spPr>
          <a:xfrm>
            <a:off x="638628" y="1839685"/>
            <a:ext cx="39878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heatmap shows how each raw box score statistic relates to every other statistic and to the target variable win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9813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EB24B-BAA6-B969-10D7-AFBBFA8C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/>
              <a:t>EDA</a:t>
            </a:r>
          </a:p>
        </p:txBody>
      </p:sp>
      <p:pic>
        <p:nvPicPr>
          <p:cNvPr id="5" name="Content Placeholder 3" descr="A graph with blue bars&#10;&#10;AI-generated content may be incorrect.">
            <a:extLst>
              <a:ext uri="{FF2B5EF4-FFF2-40B4-BE49-F238E27FC236}">
                <a16:creationId xmlns:a16="http://schemas.microsoft.com/office/drawing/2014/main" id="{4AB1BDCF-D5C7-1A12-AF12-6CC939D40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25" r="2" b="2"/>
          <a:stretch>
            <a:fillRect/>
          </a:stretch>
        </p:blipFill>
        <p:spPr>
          <a:xfrm>
            <a:off x="5946244" y="1934962"/>
            <a:ext cx="4971956" cy="39056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8BF3C-EBAC-C790-D7FB-CB26935C5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864" y="2082116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bar chart shows the distribution of the target variable, win, which is exactly balanced at 50% each, since every game produces one winning and one losing team.</a:t>
            </a:r>
          </a:p>
          <a:p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confirms no resampling or class weighting was needed </a:t>
            </a:r>
            <a:endParaRPr lang="en-US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416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9F1E-53EA-9FBB-581F-CB5D099F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Preprocessing/Feature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AB72A-AA75-F79C-06CB-B4AF2351A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Created leakage-safe rolling averages using information only previous games (</a:t>
            </a:r>
            <a:r>
              <a:rPr lang="en-US" dirty="0">
                <a:latin typeface="Consolas"/>
              </a:rPr>
              <a:t>shift(1)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Engineered rolling averages for 8 key performance statistics (Pts, FG%, 3P%, REB, AST, TOV, STL, BLK)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Added contextual features: </a:t>
            </a:r>
            <a:endParaRPr lang="en-US" dirty="0"/>
          </a:p>
          <a:p>
            <a:r>
              <a:rPr lang="en-US" dirty="0" err="1">
                <a:latin typeface="Consolas"/>
              </a:rPr>
              <a:t>is_home</a:t>
            </a:r>
            <a:r>
              <a:rPr lang="en-US" dirty="0">
                <a:ea typeface="+mn-lt"/>
                <a:cs typeface="+mn-lt"/>
              </a:rPr>
              <a:t> → captures home court advantage </a:t>
            </a:r>
            <a:endParaRPr lang="en-US" dirty="0"/>
          </a:p>
          <a:p>
            <a:r>
              <a:rPr lang="en-US" dirty="0" err="1">
                <a:latin typeface="Consolas"/>
              </a:rPr>
              <a:t>rest_days</a:t>
            </a:r>
            <a:r>
              <a:rPr lang="en-US" dirty="0">
                <a:ea typeface="+mn-lt"/>
                <a:cs typeface="+mn-lt"/>
              </a:rPr>
              <a:t> → captures scheduling/fatigue effects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72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0CA02-6DCD-3739-9F04-59FD9527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Preprocessing/Feature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A7F11-20BD-9FDD-5148-68C8DAE3A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Evaluated multiple rolling window sizes (5 games, 10 games, 15 games, 20 games, 25 games)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Treated rolling window length as a parameter to test rather than assuming one timeframe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Trained Logistic Regression models using each window while keeping the modeling setup consistent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Selected the </a:t>
            </a:r>
            <a:r>
              <a:rPr lang="en-US" b="1" dirty="0">
                <a:ea typeface="+mn-lt"/>
                <a:cs typeface="+mn-lt"/>
              </a:rPr>
              <a:t>20-game rolling window</a:t>
            </a:r>
            <a:r>
              <a:rPr lang="en-US" dirty="0">
                <a:ea typeface="+mn-lt"/>
                <a:cs typeface="+mn-lt"/>
              </a:rPr>
              <a:t> based on highest performance: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Accuracy: </a:t>
            </a:r>
            <a:r>
              <a:rPr lang="en-US" b="1" dirty="0">
                <a:ea typeface="+mn-lt"/>
                <a:cs typeface="+mn-lt"/>
              </a:rPr>
              <a:t>0.621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ROC-AUC: </a:t>
            </a:r>
            <a:r>
              <a:rPr lang="en-US" b="1" dirty="0">
                <a:ea typeface="+mn-lt"/>
                <a:cs typeface="+mn-lt"/>
              </a:rPr>
              <a:t>0.664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Performance declined with the 25-game window, showing that longer history did not always improve predictions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03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292A-E8D3-099A-DE04-665D7FF9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Preprocessing/Feature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ECB68-5280-2EF4-F49E-839906488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Verified data quality: </a:t>
            </a:r>
            <a:r>
              <a:rPr lang="en-US" b="1" dirty="0">
                <a:ea typeface="+mn-lt"/>
                <a:cs typeface="+mn-lt"/>
              </a:rPr>
              <a:t>no missing values detected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Confirmed balanced target variable: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Train: 50.1% wins / 49.9% losses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Test: 50.4% wins / 49.6% losses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 resampling or class weighting required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Used a chronological </a:t>
            </a:r>
            <a:r>
              <a:rPr lang="en-US" b="1" dirty="0">
                <a:ea typeface="+mn-lt"/>
                <a:cs typeface="+mn-lt"/>
              </a:rPr>
              <a:t>80/20 train-test split</a:t>
            </a:r>
            <a:r>
              <a:rPr lang="en-US" dirty="0">
                <a:ea typeface="+mn-lt"/>
                <a:cs typeface="+mn-lt"/>
              </a:rPr>
              <a:t> to preserve the time-series structure and prevent data leakage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Standardized numerical features using </a:t>
            </a:r>
            <a:r>
              <a:rPr lang="en-US" b="1" dirty="0" err="1">
                <a:ea typeface="+mn-lt"/>
                <a:cs typeface="+mn-lt"/>
              </a:rPr>
              <a:t>StandardScaler</a:t>
            </a:r>
            <a:r>
              <a:rPr lang="en-US" dirty="0">
                <a:ea typeface="+mn-lt"/>
                <a:cs typeface="+mn-lt"/>
              </a:rPr>
              <a:t> (fit only on training data)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46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0E56-62BF-0EB1-C74F-488E287B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63" y="1713"/>
            <a:ext cx="10890929" cy="1097280"/>
          </a:xfrm>
        </p:spPr>
        <p:txBody>
          <a:bodyPr/>
          <a:lstStyle/>
          <a:p>
            <a:r>
              <a:rPr lang="en-US"/>
              <a:t>Methodology – 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832EC-7A6B-406A-D2F9-47BCDAF5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642" y="1100911"/>
            <a:ext cx="10890928" cy="549435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>
                <a:ea typeface="+mn-lt"/>
                <a:cs typeface="+mn-lt"/>
              </a:rPr>
              <a:t>Dataset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2025 NBA Regular Season team-game data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1,230 games → 2,400 usable observations after rolling feature creation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Features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10 final features: </a:t>
            </a:r>
            <a:endParaRPr lang="en-US"/>
          </a:p>
          <a:p>
            <a:pPr marL="493395" lvl="1"/>
            <a:r>
              <a:rPr lang="en-US">
                <a:ea typeface="+mn-lt"/>
                <a:cs typeface="+mn-lt"/>
              </a:rPr>
              <a:t>8 leakage-safe 20-game rolling statistics </a:t>
            </a:r>
            <a:endParaRPr lang="en-US"/>
          </a:p>
          <a:p>
            <a:pPr marL="493395" lvl="1"/>
            <a:r>
              <a:rPr lang="en-US" dirty="0" err="1">
                <a:latin typeface="Grandview Display"/>
              </a:rPr>
              <a:t>is_home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en-US" dirty="0" err="1">
                <a:latin typeface="Grandview Display"/>
              </a:rPr>
              <a:t>rest_days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264795" lvl="1" indent="0">
              <a:buNone/>
            </a:pPr>
            <a:r>
              <a:rPr lang="en-US" b="1">
                <a:ea typeface="+mn-lt"/>
                <a:cs typeface="+mn-lt"/>
              </a:rPr>
              <a:t>Validation</a:t>
            </a:r>
          </a:p>
          <a:p>
            <a:r>
              <a:rPr lang="en-US">
                <a:ea typeface="+mn-lt"/>
                <a:cs typeface="+mn-lt"/>
              </a:rPr>
              <a:t>Chronological 80/20 train-test split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5-fold </a:t>
            </a:r>
            <a:r>
              <a:rPr lang="en-US" dirty="0" err="1">
                <a:ea typeface="+mn-lt"/>
                <a:cs typeface="+mn-lt"/>
              </a:rPr>
              <a:t>TimeSeriesSplit</a:t>
            </a:r>
            <a:r>
              <a:rPr lang="en-US" dirty="0">
                <a:ea typeface="+mn-lt"/>
                <a:cs typeface="+mn-lt"/>
              </a:rPr>
              <a:t> cross-validation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No shuffling to prevent future data leakage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Models &amp; Tuning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Persistence baseline, Logistic Regression (baseline), Random Forest,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GridSearchCV</a:t>
            </a:r>
            <a:r>
              <a:rPr lang="en-US" dirty="0">
                <a:ea typeface="+mn-lt"/>
                <a:cs typeface="+mn-lt"/>
              </a:rPr>
              <a:t> optimization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70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51DA0-AF9D-AB3E-30B7-B54BB90E2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65" y="349320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/>
              <a:t>Hyperparameter Tuning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C1375-9103-CD48-9E21-D724D1D5B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55" y="1398800"/>
            <a:ext cx="7750886" cy="46214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9B12E-76FA-16DD-7494-11A1EA489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630" y="347834"/>
            <a:ext cx="3160101" cy="566891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b="1">
                <a:ea typeface="+mn-lt"/>
                <a:cs typeface="+mn-lt"/>
              </a:rPr>
              <a:t>Logistic Regression results: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C = 0.5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n-US" sz="1800">
                <a:ea typeface="+mn-lt"/>
                <a:cs typeface="+mn-lt"/>
              </a:rPr>
              <a:t>penalty = 'l2'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n-US" sz="1800" dirty="0" err="1">
                <a:ea typeface="+mn-lt"/>
                <a:cs typeface="+mn-lt"/>
              </a:rPr>
              <a:t>class_weight</a:t>
            </a:r>
            <a:r>
              <a:rPr lang="en-US" sz="1800" dirty="0">
                <a:ea typeface="+mn-lt"/>
                <a:cs typeface="+mn-lt"/>
              </a:rPr>
              <a:t> = 'balanced'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b="1">
                <a:ea typeface="+mn-lt"/>
                <a:cs typeface="+mn-lt"/>
              </a:rPr>
              <a:t>Random Forest results: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n-US" sz="1800" dirty="0" err="1">
                <a:ea typeface="+mn-lt"/>
                <a:cs typeface="+mn-lt"/>
              </a:rPr>
              <a:t>n_estimators</a:t>
            </a:r>
            <a:r>
              <a:rPr lang="en-US" sz="1800" dirty="0">
                <a:ea typeface="+mn-lt"/>
                <a:cs typeface="+mn-lt"/>
              </a:rPr>
              <a:t> = 100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>
                <a:ea typeface="+mn-lt"/>
                <a:cs typeface="+mn-lt"/>
              </a:rPr>
              <a:t>max_depth</a:t>
            </a:r>
            <a:r>
              <a:rPr lang="en-US" sz="1800" dirty="0">
                <a:ea typeface="+mn-lt"/>
                <a:cs typeface="+mn-lt"/>
              </a:rPr>
              <a:t> = 5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>
                <a:ea typeface="+mn-lt"/>
                <a:cs typeface="+mn-lt"/>
              </a:rPr>
              <a:t>min_samples_leaf</a:t>
            </a:r>
            <a:r>
              <a:rPr lang="en-US" sz="1800" dirty="0">
                <a:ea typeface="+mn-lt"/>
                <a:cs typeface="+mn-lt"/>
              </a:rPr>
              <a:t> = 5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b="1" dirty="0" err="1">
                <a:ea typeface="+mn-lt"/>
                <a:cs typeface="+mn-lt"/>
              </a:rPr>
              <a:t>XGBoost</a:t>
            </a:r>
            <a:r>
              <a:rPr lang="en-US" sz="1800" b="1" dirty="0">
                <a:ea typeface="+mn-lt"/>
                <a:cs typeface="+mn-lt"/>
              </a:rPr>
              <a:t> results: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/>
          </a:p>
          <a:p>
            <a:pPr>
              <a:lnSpc>
                <a:spcPct val="110000"/>
              </a:lnSpc>
            </a:pPr>
            <a:r>
              <a:rPr lang="en-US" sz="1800" dirty="0" err="1">
                <a:ea typeface="+mn-lt"/>
                <a:cs typeface="+mn-lt"/>
              </a:rPr>
              <a:t>n_estimators</a:t>
            </a:r>
            <a:r>
              <a:rPr lang="en-US" sz="1800" dirty="0">
                <a:ea typeface="+mn-lt"/>
                <a:cs typeface="+mn-lt"/>
              </a:rPr>
              <a:t> = 100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>
                <a:ea typeface="+mn-lt"/>
                <a:cs typeface="+mn-lt"/>
              </a:rPr>
              <a:t>max_depth</a:t>
            </a:r>
            <a:r>
              <a:rPr lang="en-US" sz="1800" dirty="0">
                <a:ea typeface="+mn-lt"/>
                <a:cs typeface="+mn-lt"/>
              </a:rPr>
              <a:t> = 3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>
                <a:ea typeface="+mn-lt"/>
                <a:cs typeface="+mn-lt"/>
              </a:rPr>
              <a:t>learning_rate</a:t>
            </a:r>
            <a:r>
              <a:rPr lang="en-US" sz="1800" dirty="0">
                <a:ea typeface="+mn-lt"/>
                <a:cs typeface="+mn-lt"/>
              </a:rPr>
              <a:t> = 0.01</a:t>
            </a:r>
            <a:endParaRPr lang="en-US" sz="1800" dirty="0"/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37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4CC9-A835-0D6C-C76E-08E40C82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Evaluation Criter</a:t>
            </a:r>
            <a:r>
              <a:rPr lang="en-US"/>
              <a:t>ia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F3F68-CAF3-6F83-3A22-0AF787F08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Primary metric:</a:t>
            </a:r>
            <a:r>
              <a:rPr lang="en-US">
                <a:ea typeface="+mn-lt"/>
                <a:cs typeface="+mn-lt"/>
              </a:rPr>
              <a:t> ROC-AUC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Measures how well the model distinguishes between wins and losses across all probability thresholds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Threshold-independent, making it well suited for comparing Logistic Regression, Random Forest, and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Because the dataset is balanced, no single prediction error was weighted more heavily than another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Also reported: Accuracy, Precision, Recall, F1-score, and the Confusion Matrix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877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0B96-5495-954F-46D8-C1DDC628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Comparison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DB1B1C-42E1-C599-3576-5FE503097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0383" y="2470798"/>
            <a:ext cx="3641691" cy="3566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F70752-D9BB-EA85-9EE3-8AE66FEF2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816" y="2349404"/>
            <a:ext cx="3859692" cy="3811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5DEECA-1F0E-7C67-BBF9-657DA24E25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796" y="2351413"/>
            <a:ext cx="3645780" cy="38077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41AB34-9A7C-CCB5-F19D-5E94A51C912F}"/>
              </a:ext>
            </a:extLst>
          </p:cNvPr>
          <p:cNvSpPr txBox="1"/>
          <p:nvPr/>
        </p:nvSpPr>
        <p:spPr>
          <a:xfrm>
            <a:off x="6536030" y="880242"/>
            <a:ext cx="499210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Confusion Matrices for each Model</a:t>
            </a:r>
          </a:p>
        </p:txBody>
      </p:sp>
    </p:spTree>
    <p:extLst>
      <p:ext uri="{BB962C8B-B14F-4D97-AF65-F5344CB8AC3E}">
        <p14:creationId xmlns:p14="http://schemas.microsoft.com/office/powerpoint/2010/main" val="872385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C9E17-6451-FC8B-813B-DC9C36C0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520" y="914400"/>
            <a:ext cx="10020496" cy="1117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Model Comparison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32706" y="231116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DC9F2DF-4CBA-84A8-61B4-2F2E7536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5" y="3128152"/>
            <a:ext cx="4310275" cy="3282635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97C62F-1CD9-5AEA-BE52-6518FD34D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471234" y="3126464"/>
            <a:ext cx="3768613" cy="3385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C73FFF-57D5-73E5-9A45-7C73C6DE9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554" y="3257425"/>
            <a:ext cx="3851239" cy="325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44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BE5FF-215F-8D09-B982-4E372631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/>
              <a:t>Model Comparison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05AE66-A3B5-76A6-D49F-88E35033E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4000" y="1252175"/>
            <a:ext cx="8380308" cy="463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67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A4C1-5BB5-080E-2A65-67BFCF35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8D29-A876-B75A-80F5-170ED22C8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>
                <a:ea typeface="+mn-lt"/>
                <a:cs typeface="+mn-lt"/>
              </a:rPr>
              <a:t>Bootstrap Confidence Intervals (Primary Test)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Compared ROC-AUC across 5 cross-validation folds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Logistic Regression significantly outperformed Random Forest and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(95% CI excluded 0) 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Wilcoxon Signed-Rank Test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Used due to the small number of cross-validation folds (n = 5)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statistically significant differences detected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McNemar's Test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Compared test-set prediction errors between models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statistically significant differences detected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074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BF23-C0B5-78B9-7916-E2286087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Statistical Analysis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508183-89EE-0099-69E4-F2210F8E0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1573" y="2220340"/>
            <a:ext cx="7639772" cy="430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78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232F-F936-1FB5-2CFA-7F196D6B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Analysis/Interpretation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20C05-48EE-5361-C93B-70A53647B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Models struggled to exceed ~0.62 accuracy / ~0.66 ROC-AUC, regardless of complexity</a:t>
            </a:r>
          </a:p>
          <a:p>
            <a:r>
              <a:rPr lang="en-US"/>
              <a:t>Dataset </a:t>
            </a:r>
          </a:p>
          <a:p>
            <a:pPr marL="0" indent="0">
              <a:buNone/>
            </a:pPr>
            <a:r>
              <a:rPr lang="en-US"/>
              <a:t>      -</a:t>
            </a:r>
            <a:r>
              <a:rPr lang="en-US">
                <a:ea typeface="+mn-lt"/>
                <a:cs typeface="+mn-lt"/>
              </a:rPr>
              <a:t>No opponent-strength data  </a:t>
            </a:r>
          </a:p>
          <a:p>
            <a:pPr marL="342900" indent="-342900"/>
            <a:r>
              <a:rPr lang="en-US"/>
              <a:t>Hypothesis refuted </a:t>
            </a:r>
          </a:p>
          <a:p>
            <a:pPr marL="342900" indent="-342900"/>
            <a:r>
              <a:rPr lang="en-US" dirty="0"/>
              <a:t>-</a:t>
            </a:r>
            <a:r>
              <a:rPr lang="en-US" dirty="0">
                <a:ea typeface="+mn-lt"/>
                <a:cs typeface="+mn-lt"/>
              </a:rPr>
              <a:t>Logistic Regression outperformed Random Forest and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based on bootstrap confidence intervals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596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A02A-6832-6FE2-EE65-FCEDEB90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Analysis/ Interp</a:t>
            </a:r>
            <a:r>
              <a:rPr lang="en-US"/>
              <a:t>retation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BE8E35-C3BB-854C-D0AA-C4574099E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89916" y="2330508"/>
            <a:ext cx="6635182" cy="408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92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6D27-2599-CEB1-B6F5-EB53AEB7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3162-CECE-9899-3301-79AAD9278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922843"/>
            <a:ext cx="10890928" cy="427678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/>
              <a:t>Strengths</a:t>
            </a:r>
          </a:p>
          <a:p>
            <a:r>
              <a:rPr lang="en-US">
                <a:ea typeface="+mn-lt"/>
                <a:cs typeface="+mn-lt"/>
              </a:rPr>
              <a:t>Window size (5, 10, 15, 20, 25 games) tested rather than assumed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Compared models against a persistence baseline appropriate for time-series prediction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Used hyperparameter tuning and multiple statistical tests to validate results</a:t>
            </a:r>
            <a:endParaRPr lang="en-US" dirty="0"/>
          </a:p>
          <a:p>
            <a:endParaRPr lang="en-US" dirty="0"/>
          </a:p>
          <a:p>
            <a:r>
              <a:rPr lang="en-US" b="1">
                <a:ea typeface="+mn-lt"/>
                <a:cs typeface="+mn-lt"/>
              </a:rPr>
              <a:t>Limitations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Feature set </a:t>
            </a:r>
            <a:endParaRPr lang="en-US"/>
          </a:p>
          <a:p>
            <a:pPr marL="493395" lvl="1"/>
            <a:r>
              <a:rPr lang="en-US">
                <a:ea typeface="+mn-lt"/>
                <a:cs typeface="+mn-lt"/>
              </a:rPr>
              <a:t>No opponent strength data, model only sees a team's own recent form</a:t>
            </a:r>
            <a:endParaRPr lang="en-US"/>
          </a:p>
          <a:p>
            <a:pPr marL="493395" lvl="1"/>
            <a:r>
              <a:rPr lang="en-US">
                <a:ea typeface="+mn-lt"/>
                <a:cs typeface="+mn-lt"/>
              </a:rPr>
              <a:t>Mild multicollinearity because of basketball features </a:t>
            </a:r>
            <a:endParaRPr lang="en-US"/>
          </a:p>
          <a:p>
            <a:pPr marL="493395"/>
            <a:r>
              <a:rPr lang="en-US">
                <a:ea typeface="+mn-lt"/>
                <a:cs typeface="+mn-lt"/>
              </a:rPr>
              <a:t>Sample size / scope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Single season (2025) only</a:t>
            </a:r>
            <a:endParaRPr lang="en-US"/>
          </a:p>
          <a:p>
            <a:pPr marL="493395"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636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8D09-7288-381F-11C6-00A3AA3A8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7B0AE-7B40-AB8E-7A0C-3761F5A47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48191"/>
            <a:ext cx="10890928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Biases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Data limitations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493395" lvl="1"/>
            <a:r>
              <a:rPr lang="en-US" dirty="0">
                <a:ea typeface="+mn-lt"/>
                <a:cs typeface="+mn-lt"/>
              </a:rPr>
              <a:t>Box scores are reliable but only capture recorded game </a:t>
            </a:r>
            <a:r>
              <a:rPr lang="en-US">
                <a:ea typeface="+mn-lt"/>
                <a:cs typeface="+mn-lt"/>
              </a:rPr>
              <a:t>statistics. Doesn't</a:t>
            </a:r>
            <a:r>
              <a:rPr lang="en-US" dirty="0">
                <a:ea typeface="+mn-lt"/>
                <a:cs typeface="+mn-lt"/>
              </a:rPr>
              <a:t> capture trades, injuries, or roster changes. </a:t>
            </a:r>
            <a:endParaRPr lang="en-US"/>
          </a:p>
          <a:p>
            <a:pPr marL="493395" lvl="1"/>
            <a:r>
              <a:rPr lang="en-US">
                <a:ea typeface="+mn-lt"/>
                <a:cs typeface="+mn-lt"/>
              </a:rPr>
              <a:t>Performance was not tested across specific teams, conferences, or different quality of teams.</a:t>
            </a:r>
            <a:endParaRPr lang="en-US"/>
          </a:p>
          <a:p>
            <a:pPr marL="493395" lvl="1"/>
            <a:r>
              <a:rPr lang="en-US" sz="2000" b="1" dirty="0"/>
              <a:t>Societal Im</a:t>
            </a:r>
            <a:r>
              <a:rPr lang="en-US" sz="2000" b="1"/>
              <a:t>pact</a:t>
            </a:r>
            <a:r>
              <a:rPr lang="en-US"/>
              <a:t>:</a:t>
            </a:r>
            <a:endParaRPr lang="en-US" dirty="0"/>
          </a:p>
          <a:p>
            <a:pPr marL="493395" lvl="1"/>
            <a:r>
              <a:rPr lang="en-US">
                <a:ea typeface="+mn-lt"/>
                <a:cs typeface="+mn-lt"/>
              </a:rPr>
              <a:t>Modest predictive power risks false confidence in betting contexts</a:t>
            </a:r>
            <a:endParaRPr lang="en-US" dirty="0">
              <a:ea typeface="+mn-lt"/>
              <a:cs typeface="+mn-lt"/>
            </a:endParaRPr>
          </a:p>
          <a:p>
            <a:pPr marL="493395" lvl="1"/>
            <a:r>
              <a:rPr lang="en-US">
                <a:ea typeface="+mn-lt"/>
                <a:cs typeface="+mn-lt"/>
              </a:rPr>
              <a:t>Could support analytics, broadcasting, or help identify performance trends.</a:t>
            </a:r>
            <a:endParaRPr lang="en-US" dirty="0"/>
          </a:p>
          <a:p>
            <a:pPr marL="264795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36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9544-A7B6-9EB0-6051-424FCFD7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for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6E513-960C-0DF5-CBA1-9D5AB9A05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Extend to multiple seasons for a larger, more generalizable sample</a:t>
            </a:r>
          </a:p>
          <a:p>
            <a:r>
              <a:rPr lang="en-US">
                <a:ea typeface="+mn-lt"/>
                <a:cs typeface="+mn-lt"/>
              </a:rPr>
              <a:t>Add opponent-strength features (recent opponent win %, rolling opponent stats), rerun methodology</a:t>
            </a:r>
          </a:p>
          <a:p>
            <a:r>
              <a:rPr lang="en-US" dirty="0">
                <a:ea typeface="+mn-lt"/>
                <a:cs typeface="+mn-lt"/>
              </a:rPr>
              <a:t>Test window size separately for Random Forest and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, rather than assuming the Logistic Regression-optimal window transfers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01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78183-9013-A180-873F-57D5C622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5E4F6-D7FF-897E-2AAD-D0D80979C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4304538"/>
            <a:ext cx="3156857" cy="1362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/>
              <a:t>Questions?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Questions">
            <a:extLst>
              <a:ext uri="{FF2B5EF4-FFF2-40B4-BE49-F238E27FC236}">
                <a16:creationId xmlns:a16="http://schemas.microsoft.com/office/drawing/2014/main" id="{46AF22F9-F700-28D5-0994-70912EE0E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8229" y="1098734"/>
            <a:ext cx="4729112" cy="47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4680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c853569-e95e-4378-8926-ab9501a771a3}" enabled="0" method="" siteId="{6c853569-e95e-4378-8926-ab9501a771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1630</TotalTime>
  <Words>1002</Words>
  <Application>Microsoft Office PowerPoint</Application>
  <PresentationFormat>Widescreen</PresentationFormat>
  <Paragraphs>160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Consolas</vt:lpstr>
      <vt:lpstr>Courier New</vt:lpstr>
      <vt:lpstr>Grandview Display</vt:lpstr>
      <vt:lpstr>DashVTI</vt:lpstr>
      <vt:lpstr>NBA Win Prediction: Sports Capstone  </vt:lpstr>
      <vt:lpstr>Outline</vt:lpstr>
      <vt:lpstr>Problem Statement</vt:lpstr>
      <vt:lpstr>Dataset Overview</vt:lpstr>
      <vt:lpstr>EDA</vt:lpstr>
      <vt:lpstr>EDA</vt:lpstr>
      <vt:lpstr>Preprocessing/Feature Engineering</vt:lpstr>
      <vt:lpstr>Preprocessing/Feature Engineering</vt:lpstr>
      <vt:lpstr>Preprocessing/Feature Engineering</vt:lpstr>
      <vt:lpstr>Methodology – Experiment Setup</vt:lpstr>
      <vt:lpstr>Hyperparameter Tuning </vt:lpstr>
      <vt:lpstr>Methodology – Evaluation Criteria </vt:lpstr>
      <vt:lpstr>Model Comparison </vt:lpstr>
      <vt:lpstr>Model Comparison</vt:lpstr>
      <vt:lpstr>Model Comparison</vt:lpstr>
      <vt:lpstr>Statistical Analysis</vt:lpstr>
      <vt:lpstr>Statistical Analysis </vt:lpstr>
      <vt:lpstr>Error Analysis/Interpretation</vt:lpstr>
      <vt:lpstr>Error Analysis/ Interpretation</vt:lpstr>
      <vt:lpstr>Results</vt:lpstr>
      <vt:lpstr>Results </vt:lpstr>
      <vt:lpstr>Potential for 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Robinson</dc:creator>
  <cp:lastModifiedBy>Grant Robinson</cp:lastModifiedBy>
  <cp:revision>583</cp:revision>
  <dcterms:created xsi:type="dcterms:W3CDTF">2026-08-05T16:29:49Z</dcterms:created>
  <dcterms:modified xsi:type="dcterms:W3CDTF">2026-08-08T01:53:47Z</dcterms:modified>
</cp:coreProperties>
</file>